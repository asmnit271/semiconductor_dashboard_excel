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 Revenue ($B)</c:v>
                </c:pt>
              </c:strCache>
            </c:strRef>
          </c:tx>
          <c:spPr>
            <a:solidFill>
              <a:srgbClr val="2FD3C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FD3C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2C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2C5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2C5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2C52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B243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NVIDIA</c:v>
                </c:pt>
                <c:pt idx="1">
                  <c:v>Google</c:v>
                </c:pt>
                <c:pt idx="2">
                  <c:v>AMD</c:v>
                </c:pt>
                <c:pt idx="3">
                  <c:v>Huawei</c:v>
                </c:pt>
                <c:pt idx="4">
                  <c:v>AWS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83.5</c:v>
                </c:pt>
                <c:pt idx="1">
                  <c:v>11.4</c:v>
                </c:pt>
                <c:pt idx="2">
                  <c:v>7.5</c:v>
                </c:pt>
                <c:pt idx="3">
                  <c:v>5</c:v>
                </c:pt>
                <c:pt idx="4">
                  <c:v>1.7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B243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c793b38-7d57-4aac-9e52-55ebc0fa552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Intel</c:v>
                </c:pt>
              </c:strCache>
            </c:strRef>
          </c:tx>
          <c:spPr>
            <a:ln w="31750" cap="flat" cmpd="sng" algn="ctr">
              <a:solidFill>
                <a:srgbClr val="64748B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64748B"/>
              </a:solidFill>
              <a:ln w="9525" cap="flat" cmpd="sng" algn="ctr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Sheet1!$A$2:$A$16</c:f>
              <c:numCache>
                <c:formatCode>General</c:formatCode>
                <c:ptCount val="15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</c:numCache>
            </c:num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44.33</c:v>
                </c:pt>
                <c:pt idx="1">
                  <c:v>45.66</c:v>
                </c:pt>
                <c:pt idx="2">
                  <c:v>50.66</c:v>
                </c:pt>
                <c:pt idx="3">
                  <c:v>50.78</c:v>
                </c:pt>
                <c:pt idx="4">
                  <c:v>50.47</c:v>
                </c:pt>
                <c:pt idx="5">
                  <c:v>52.71</c:v>
                </c:pt>
                <c:pt idx="6">
                  <c:v>61.27</c:v>
                </c:pt>
                <c:pt idx="7">
                  <c:v>66.18</c:v>
                </c:pt>
                <c:pt idx="8">
                  <c:v>66.06</c:v>
                </c:pt>
                <c:pt idx="9">
                  <c:v>73.31</c:v>
                </c:pt>
                <c:pt idx="10">
                  <c:v>79.56</c:v>
                </c:pt>
                <c:pt idx="11">
                  <c:v>72.13</c:v>
                </c:pt>
                <c:pt idx="12">
                  <c:v>64.11</c:v>
                </c:pt>
                <c:pt idx="13">
                  <c:v>53.91</c:v>
                </c:pt>
                <c:pt idx="14">
                  <c:v>54.42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TSMC</c:v>
                </c:pt>
              </c:strCache>
            </c:strRef>
          </c:tx>
          <c:spPr>
            <a:ln w="31750" cap="flat" cmpd="sng" algn="ctr">
              <a:solidFill>
                <a:srgbClr val="F2B84B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2B84B"/>
              </a:solidFill>
              <a:ln w="9525" cap="flat" cmpd="sng" algn="ctr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Sheet1!$A$2:$A$16</c:f>
              <c:numCache>
                <c:formatCode>General</c:formatCode>
                <c:ptCount val="15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</c:numCache>
            </c:num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13.42</c:v>
                </c:pt>
                <c:pt idx="1">
                  <c:v>16.32</c:v>
                </c:pt>
                <c:pt idx="2">
                  <c:v>17.56</c:v>
                </c:pt>
                <c:pt idx="3">
                  <c:v>21.36</c:v>
                </c:pt>
                <c:pt idx="4">
                  <c:v>23.93</c:v>
                </c:pt>
                <c:pt idx="5">
                  <c:v>27.31</c:v>
                </c:pt>
                <c:pt idx="6">
                  <c:v>29.19</c:v>
                </c:pt>
                <c:pt idx="7">
                  <c:v>32.11</c:v>
                </c:pt>
                <c:pt idx="8">
                  <c:v>34.58</c:v>
                </c:pt>
                <c:pt idx="9">
                  <c:v>40.91</c:v>
                </c:pt>
                <c:pt idx="10">
                  <c:v>45.25</c:v>
                </c:pt>
                <c:pt idx="11">
                  <c:v>62.97</c:v>
                </c:pt>
                <c:pt idx="12">
                  <c:v>74.93</c:v>
                </c:pt>
                <c:pt idx="13">
                  <c:v>70.42</c:v>
                </c:pt>
                <c:pt idx="14">
                  <c:v>88.89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NVIDIA</c:v>
                </c:pt>
              </c:strCache>
            </c:strRef>
          </c:tx>
          <c:spPr>
            <a:ln w="31750" cap="flat" cmpd="sng" algn="ctr">
              <a:solidFill>
                <a:srgbClr val="2FD3C7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2FD3C7"/>
              </a:solidFill>
              <a:ln w="9525" cap="flat" cmpd="sng" algn="ctr">
                <a:solidFill>
                  <a:srgbClr val="2FD3C7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Sheet1!$A$2:$A$16</c:f>
              <c:numCache>
                <c:formatCode>General</c:formatCode>
                <c:ptCount val="15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</c:numCache>
            </c:num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3.43</c:v>
                </c:pt>
                <c:pt idx="1">
                  <c:v>3.75</c:v>
                </c:pt>
                <c:pt idx="2">
                  <c:v>3.95</c:v>
                </c:pt>
                <c:pt idx="3">
                  <c:v>4.61</c:v>
                </c:pt>
                <c:pt idx="4">
                  <c:v>4.68</c:v>
                </c:pt>
                <c:pt idx="5">
                  <c:v>5.2</c:v>
                </c:pt>
                <c:pt idx="6">
                  <c:v>6.49</c:v>
                </c:pt>
                <c:pt idx="7">
                  <c:v>8.24</c:v>
                </c:pt>
                <c:pt idx="8">
                  <c:v>9.75</c:v>
                </c:pt>
                <c:pt idx="9">
                  <c:v>12.67</c:v>
                </c:pt>
                <c:pt idx="10">
                  <c:v>17.59</c:v>
                </c:pt>
                <c:pt idx="11">
                  <c:v>21.6</c:v>
                </c:pt>
                <c:pt idx="12">
                  <c:v>26.12</c:v>
                </c:pt>
                <c:pt idx="13">
                  <c:v>62.09</c:v>
                </c:pt>
                <c:pt idx="14">
                  <c:v>130.48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1B243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612a8005-73db-488f-919a-779209aab45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Margin %</c:v>
                </c:pt>
              </c:strCache>
            </c:strRef>
          </c:tx>
          <c:spPr>
            <a:solidFill>
              <a:srgbClr val="2FD3C7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FD3C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2C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2C5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2C5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2C5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2C5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42C5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1B243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NVIDIA</c:v>
                </c:pt>
                <c:pt idx="1">
                  <c:v>TSMC</c:v>
                </c:pt>
                <c:pt idx="2">
                  <c:v>Qualcomm</c:v>
                </c:pt>
                <c:pt idx="3">
                  <c:v>Micron</c:v>
                </c:pt>
                <c:pt idx="4">
                  <c:v>Marvell</c:v>
                </c:pt>
                <c:pt idx="5">
                  <c:v>Samsung Memory</c:v>
                </c:pt>
                <c:pt idx="6">
                  <c:v>AMD</c:v>
                </c:pt>
                <c:pt idx="7">
                  <c:v>Intel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59.5</c:v>
                </c:pt>
                <c:pt idx="1">
                  <c:v>41.3</c:v>
                </c:pt>
                <c:pt idx="2">
                  <c:v>31.1</c:v>
                </c:pt>
                <c:pt idx="3">
                  <c:v>28.4</c:v>
                </c:pt>
                <c:pt idx="4">
                  <c:v>27.5</c:v>
                </c:pt>
                <c:pt idx="5">
                  <c:v>26.8</c:v>
                </c:pt>
                <c:pt idx="6">
                  <c:v>23.6</c:v>
                </c:pt>
                <c:pt idx="7">
                  <c:v>8.8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B243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8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3188a99-c02d-47a7-8119-5800b1ad30c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NVIDIA H100 ($)</c:v>
                </c:pt>
              </c:strCache>
            </c:strRef>
          </c:tx>
          <c:spPr>
            <a:ln w="38100" cap="flat" cmpd="sng" algn="ctr">
              <a:solidFill>
                <a:srgbClr val="2FD3C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FD3C7"/>
              </a:solidFill>
              <a:ln w="9525" cap="flat" cmpd="sng" algn="ctr">
                <a:solidFill>
                  <a:srgbClr val="2FD3C7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1B243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33730</c:v>
                </c:pt>
                <c:pt idx="1">
                  <c:v>28286</c:v>
                </c:pt>
                <c:pt idx="2">
                  <c:v>24478</c:v>
                </c:pt>
                <c:pt idx="3">
                  <c:v>20303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B243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8464429-058a-4db5-935e-b3617bf1283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50" b="0" i="0" u="none" strike="noStrike" kern="1200" baseline="0">
                <a:solidFill>
                  <a:srgbClr val="1B243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50" b="0" i="0" u="none" strike="noStrike">
                <a:solidFill>
                  <a:srgbClr val="1B2430"/>
                </a:solidFill>
                <a:latin typeface="Arial" panose="020B0604020202020204"/>
              </a:rPr>
              <a:t>Node Mix by Region (% of capacity)</a:t>
            </a:r>
            <a:endParaRPr sz="1250" b="0" i="0" u="none" strike="noStrike">
              <a:solidFill>
                <a:srgbClr val="1B243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Leading Edge (3-5nm)</c:v>
                </c:pt>
              </c:strCache>
            </c:strRef>
          </c:tx>
          <c:spPr>
            <a:solidFill>
              <a:srgbClr val="2FD3C7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Taiwan</c:v>
                </c:pt>
                <c:pt idx="1">
                  <c:v>S. Korea</c:v>
                </c:pt>
                <c:pt idx="2">
                  <c:v>China</c:v>
                </c:pt>
                <c:pt idx="3">
                  <c:v>USA</c:v>
                </c:pt>
                <c:pt idx="4">
                  <c:v>Europe</c:v>
                </c:pt>
                <c:pt idx="5">
                  <c:v>Japan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</c:v>
                </c:pt>
                <c:pt idx="1">
                  <c:v>7.9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Advanced (7-16nm)</c:v>
                </c:pt>
              </c:strCache>
            </c:strRef>
          </c:tx>
          <c:spPr>
            <a:solidFill>
              <a:srgbClr val="142C52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Taiwan</c:v>
                </c:pt>
                <c:pt idx="1">
                  <c:v>S. Korea</c:v>
                </c:pt>
                <c:pt idx="2">
                  <c:v>China</c:v>
                </c:pt>
                <c:pt idx="3">
                  <c:v>USA</c:v>
                </c:pt>
                <c:pt idx="4">
                  <c:v>Europe</c:v>
                </c:pt>
                <c:pt idx="5">
                  <c:v>Japan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50.3</c:v>
                </c:pt>
                <c:pt idx="1">
                  <c:v>92.1</c:v>
                </c:pt>
                <c:pt idx="2">
                  <c:v>73.5</c:v>
                </c:pt>
                <c:pt idx="3">
                  <c:v>79.8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Mature (22-28nm)</c:v>
                </c:pt>
              </c:strCache>
            </c:strRef>
          </c:tx>
          <c:spPr>
            <a:solidFill>
              <a:srgbClr val="F2B84B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Taiwan</c:v>
                </c:pt>
                <c:pt idx="1">
                  <c:v>S. Korea</c:v>
                </c:pt>
                <c:pt idx="2">
                  <c:v>China</c:v>
                </c:pt>
                <c:pt idx="3">
                  <c:v>USA</c:v>
                </c:pt>
                <c:pt idx="4">
                  <c:v>Europe</c:v>
                </c:pt>
                <c:pt idx="5">
                  <c:v>Japan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28.6</c:v>
                </c:pt>
                <c:pt idx="1">
                  <c:v>0</c:v>
                </c:pt>
                <c:pt idx="2">
                  <c:v>26.5</c:v>
                </c:pt>
                <c:pt idx="3">
                  <c:v>20.2</c:v>
                </c:pt>
                <c:pt idx="4">
                  <c:v>18.8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Legacy (40nm+)</c:v>
                </c:pt>
              </c:strCache>
            </c:strRef>
          </c:tx>
          <c:spPr>
            <a:solidFill>
              <a:srgbClr val="B8C2D6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Taiwan</c:v>
                </c:pt>
                <c:pt idx="1">
                  <c:v>S. Korea</c:v>
                </c:pt>
                <c:pt idx="2">
                  <c:v>China</c:v>
                </c:pt>
                <c:pt idx="3">
                  <c:v>USA</c:v>
                </c:pt>
                <c:pt idx="4">
                  <c:v>Europe</c:v>
                </c:pt>
                <c:pt idx="5">
                  <c:v>Japan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81.2</c:v>
                </c:pt>
                <c:pt idx="5">
                  <c:v>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1B243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0%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bcfb82a5-1d44-4dfd-b3ca-fd97a0cd2c1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50" b="0" i="0" u="none" strike="noStrike" kern="1200" baseline="0">
                <a:solidFill>
                  <a:srgbClr val="1B243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50" b="0" i="0" u="none" strike="noStrike">
                <a:solidFill>
                  <a:srgbClr val="1B2430"/>
                </a:solidFill>
                <a:latin typeface="Arial" panose="020B0604020202020204"/>
              </a:rPr>
              <a:t>Export Control Severity &amp; Count by Year</a:t>
            </a:r>
            <a:endParaRPr sz="1250" b="0" i="0" u="none" strike="noStrike">
              <a:solidFill>
                <a:srgbClr val="1B243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Severity Score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</c:v>
                </c:pt>
                <c:pt idx="1">
                  <c:v>12</c:v>
                </c:pt>
                <c:pt idx="2">
                  <c:v>24</c:v>
                </c:pt>
                <c:pt idx="3">
                  <c:v>5</c:v>
                </c:pt>
                <c:pt idx="4">
                  <c:v>36</c:v>
                </c:pt>
                <c:pt idx="5">
                  <c:v>52</c:v>
                </c:pt>
                <c:pt idx="6">
                  <c:v>40</c:v>
                </c:pt>
                <c:pt idx="7">
                  <c:v>48</c:v>
                </c:pt>
                <c:pt idx="8">
                  <c:v>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# Actions</c:v>
                </c:pt>
              </c:strCache>
            </c:strRef>
          </c:tx>
          <c:spPr>
            <a:solidFill>
              <a:srgbClr val="F2B84B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4</c:v>
                </c:pt>
                <c:pt idx="5">
                  <c:v>7</c:v>
                </c:pt>
                <c:pt idx="6">
                  <c:v>6</c:v>
                </c:pt>
                <c:pt idx="7">
                  <c:v>7</c:v>
                </c:pt>
                <c:pt idx="8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50" b="0" i="0" u="none" strike="noStrike" kern="1200" baseline="0">
                <a:solidFill>
                  <a:srgbClr val="1B243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ef22e8c-7436-47d0-97d0-2de2928fd40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6.xml"/><Relationship Id="rId1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731520"/>
            <a:ext cx="1828800" cy="1828800"/>
          </a:xfrm>
          <a:prstGeom prst="roundRect">
            <a:avLst>
              <a:gd name="adj" fmla="val 12500"/>
            </a:avLst>
          </a:prstGeom>
          <a:solidFill>
            <a:srgbClr val="142C52"/>
          </a:solidFill>
        </p:spPr>
      </p:sp>
      <p:sp>
        <p:nvSpPr>
          <p:cNvPr id="3" name="Shape 1"/>
          <p:cNvSpPr/>
          <p:nvPr/>
        </p:nvSpPr>
        <p:spPr>
          <a:xfrm>
            <a:off x="10332720" y="1097280"/>
            <a:ext cx="1097280" cy="1097280"/>
          </a:xfrm>
          <a:prstGeom prst="roundRect">
            <a:avLst>
              <a:gd name="adj" fmla="val 12500"/>
            </a:avLst>
          </a:prstGeom>
          <a:solidFill>
            <a:srgbClr val="2FD3C7">
              <a:alpha val="22000"/>
            </a:srgbClr>
          </a:solidFill>
          <a:ln w="12700">
            <a:solidFill>
              <a:srgbClr val="2FD3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4206240"/>
            <a:ext cx="1280160" cy="1280160"/>
          </a:xfrm>
          <a:prstGeom prst="roundRect">
            <a:avLst>
              <a:gd name="adj" fmla="val 14286"/>
            </a:avLst>
          </a:prstGeom>
          <a:solidFill>
            <a:srgbClr val="142C52"/>
          </a:solidFill>
        </p:spPr>
      </p:sp>
      <p:sp>
        <p:nvSpPr>
          <p:cNvPr id="5" name="Shape 3"/>
          <p:cNvSpPr/>
          <p:nvPr/>
        </p:nvSpPr>
        <p:spPr>
          <a:xfrm>
            <a:off x="10195560" y="443484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2B84B">
              <a:alpha val="18000"/>
            </a:srgbClr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D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SEMICONDUCTOR ANALYSIS  |  5 KAGGLE DATASETS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896112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Semiconductor Industry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Intelligence Dashboard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78638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AI chip demand, company financials, global fab capacity, and export controls are reshaping the world's most strategically important industry.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5029200"/>
            <a:ext cx="5669280" cy="0"/>
          </a:xfrm>
          <a:prstGeom prst="line">
            <a:avLst/>
          </a:prstGeom>
          <a:noFill/>
          <a:ln w="12700">
            <a:solidFill>
              <a:srgbClr val="142C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257800"/>
            <a:ext cx="2011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D3C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$828.5B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5779008"/>
            <a:ext cx="2011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Industry Revenue 2024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80360" y="5257800"/>
            <a:ext cx="2011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D3C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59.5%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880360" y="5779008"/>
            <a:ext cx="2011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Op. Margin 2024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0" y="5257800"/>
            <a:ext cx="2011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D3C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$35,640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029200" y="5779008"/>
            <a:ext cx="2011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NVIDIA H100 Peak Price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78040" y="5257800"/>
            <a:ext cx="2011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D3C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178040" y="5779008"/>
            <a:ext cx="2011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Export Control Actions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2FD3C7"/>
          </a:solidFill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B1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686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NVIDIA's Monopoly on the AI Chip Market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2024 AI accelerator revenue by vendor ($ Billions) — height of bar reflects Estimated_revenue_usd_m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783080"/>
          <a:ext cx="69494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783080"/>
            <a:ext cx="4069080" cy="438912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09560" y="201168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D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09560" y="2423160"/>
            <a:ext cx="3566160" cy="3566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NVIDIA is winning the AI chip market outright — its bar is nearly 8x taller than AMD's best year.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Google's TPU program is the clearest #2, driven by internal AI workloads.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AMD (MI300X) and Huawei (Ascend) are real but distant challengers.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Cloud-native silicon (AWS Trainium/Inferentia) remains a small slice of the market so far.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Semiconductor Industry Intelligence Dashboard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2B84B"/>
          </a:solidFill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B1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15-Year Power Shift: Intel → TSMC &amp; NVIDIA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Annual revenue, 2010–2024 ($ Billions) — TSMC and NVIDIA overtake Intel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783080"/>
          <a:ext cx="78638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03920" y="1783080"/>
            <a:ext cx="3200400" cy="4434840"/>
          </a:xfrm>
          <a:prstGeom prst="roundRect">
            <a:avLst>
              <a:gd name="adj" fmla="val 2286"/>
            </a:avLst>
          </a:prstGeom>
          <a:solidFill>
            <a:srgbClr val="0B1D3A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778240" y="201168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D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Story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778240" y="2423160"/>
            <a:ext cx="265176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2010: Intel is king — unchallenged, highest revenue.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2024: TSMC ($88.9B) and NVIDIA ($130.5B) both surpass Intel ($54.4B).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TSMC won by manufacturing for every fabless company that needs advanced chips.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NVIDIA won by betting on GPUs for AI before anyone else did.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 lost by trying to design AND manufacture — and fell behind on both.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Semiconductor Industry Intelligence Dashboard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2FD3C7"/>
          </a:solidFill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B1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Fabless Beats Integrated: 2024 Operating Margins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Operating margin %, 2024 actuals — profit per $100 of revenue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783080"/>
          <a:ext cx="78638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03920" y="1783080"/>
            <a:ext cx="3200400" cy="44348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778240" y="201168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D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778240" y="2423160"/>
            <a:ext cx="2651760" cy="3749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NVIDIA leads at 59.5% — the highest in the industry.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TSMC follows at 41.3%, strong for a capital-intensive manufacturer.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Marvell (27.5%) stays consistently profitable against rivals 5–10x its size.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 sits at just 8.8% — significant underperformance vs. every peer.</a:t>
            </a:r>
            <a:endParaRPr lang="en-US" sz="11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fabless (design-only) model has decisively beaten the integrated (design + manufacture) model.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Semiconductor Industry Intelligence Dashboard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2B84B"/>
          </a:solidFill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B1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Commodity Memory vs. Platform Pricing Power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NVIDIA H100 launch price vs. flat commodity memory pricing, 2023–2026 ($)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783080"/>
          <a:ext cx="69494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870448"/>
            <a:ext cx="6949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DRAM &amp; NAND have held steady at just $3–$8 for over a decade — flat commodity pricing with no pricing power.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635240" y="1783080"/>
            <a:ext cx="4069080" cy="4434840"/>
          </a:xfrm>
          <a:prstGeom prst="roundRect">
            <a:avLst>
              <a:gd name="adj" fmla="val 1798"/>
            </a:avLst>
          </a:prstGeom>
          <a:solidFill>
            <a:srgbClr val="0B1D3A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09560" y="2057400"/>
            <a:ext cx="3520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D3C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35,640x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909560" y="269748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H100's peak price vs. a single DRAM chip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909560" y="3246120"/>
            <a:ext cx="3520440" cy="0"/>
          </a:xfrm>
          <a:prstGeom prst="line">
            <a:avLst/>
          </a:prstGeom>
          <a:noFill/>
          <a:ln w="12700">
            <a:solidFill>
              <a:srgbClr val="142C5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09560" y="3474720"/>
            <a:ext cx="352044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HBM3 memory inside AI GPUs rose from ~$200 to ~$800 — the only memory that benefited from the AI boom.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H100 prices are now declining as B200 launches at an even higher price — a generation handover in real time.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 is priced by supply &amp; demand; GPUs are priced by the fact no competitor can match performance.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Semiconductor Industry Intelligence Dashboard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E4572E"/>
          </a:solidFill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B1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CHARTS 5 &amp;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D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Taiwan's Chokehold &amp; Escalating Export Controls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Fab capacity mix by region (2024) and export control severity by year (2018–2026)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828800"/>
          <a:ext cx="557784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6172200" y="1828800"/>
          <a:ext cx="553212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Semiconductor Industry Intelligence Dashboard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D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INDUSTRY, ONE CHOKEPOINT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6012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Taiwan manufactures the majority of the world's most advanced chips.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978408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disruption there — natural disaster, conflict, or political tension — halts the entire world's supply of advanced chips overnight. China's exclusion from Leading Edge manufacturing is a direct consequence of export controls that have escalated across every U.S. administration since 2018 — a permanent policy shift, not a temporary one.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4526280"/>
            <a:ext cx="3063240" cy="1508760"/>
          </a:xfrm>
          <a:prstGeom prst="roundRect">
            <a:avLst>
              <a:gd name="adj" fmla="val 6061"/>
            </a:avLst>
          </a:prstGeom>
          <a:solidFill>
            <a:srgbClr val="142C52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4663440"/>
            <a:ext cx="3063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D3C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2.4x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8680" y="5349240"/>
            <a:ext cx="2788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NVIDIA's revenue vs. Intel, 2024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4526280"/>
            <a:ext cx="3063240" cy="1508760"/>
          </a:xfrm>
          <a:prstGeom prst="roundRect">
            <a:avLst>
              <a:gd name="adj" fmla="val 6061"/>
            </a:avLst>
          </a:prstGeom>
          <a:solidFill>
            <a:srgbClr val="142C52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0" y="4663440"/>
            <a:ext cx="3063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D3C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~85%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51960" y="5349240"/>
            <a:ext cx="2788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Taiwan's share of Leading Edge fab capacity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0" y="4526280"/>
            <a:ext cx="3063240" cy="1508760"/>
          </a:xfrm>
          <a:prstGeom prst="roundRect">
            <a:avLst>
              <a:gd name="adj" fmla="val 6061"/>
            </a:avLst>
          </a:prstGeom>
          <a:solidFill>
            <a:srgbClr val="142C52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0" y="4663440"/>
            <a:ext cx="3063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D3C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635240" y="5349240"/>
            <a:ext cx="2788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Export control actions since 2018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3309</Words>
  <Application>WPS Presentation</Application>
  <PresentationFormat>On-screen Show (16:9)</PresentationFormat>
  <Paragraphs>124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Semiconductor Industry Intelligence Dashboard</dc:title>
  <dc:creator>Ayushi</dc:creator>
  <dc:subject>PptxGenJS Presentation</dc:subject>
  <cp:lastModifiedBy>AYUSHI SHRIVASTAVA</cp:lastModifiedBy>
  <cp:revision>2</cp:revision>
  <dcterms:created xsi:type="dcterms:W3CDTF">2026-07-08T05:44:00Z</dcterms:created>
  <dcterms:modified xsi:type="dcterms:W3CDTF">2026-07-08T06:20:11Z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4FAD60F893284115AEA61ADDE7B372BF_12</vt:lpwstr>
  </property>
  <property fmtid="{D5CDD505-2E9C-101B-9397-08002B2CF9AE}" pid="3" name="KSOProductBuildVer">
    <vt:lpwstr>1033-12.1.0.26880</vt:lpwstr>
  </property>
</Properties>
</file>